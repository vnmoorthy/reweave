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Reweave v0.2.0: self-healing web data pipelines. The pitch: when a website redesign silently breaks your scraper, an agent detects it, repairs it, proves the repair against ground truth, and a named human approves the deploy. New in v0.2.0: you never write a selector at all — sources onboard from a URL plus a few pasted golden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pain is real and quantified from r/webscraping research: 10-15% weekly break rate, a solo maintainer caps at ~100 scrapers, and silent failures are the worst — bad data flows for days before anyone notices.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hackathon theme: agents that act, not just answer. Acting agents create real risk, so the interesting engineering problem is the gate — how an agent earns the right to change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30-second story: Sentinel detects silent drift via golden-record validation, Surgeon synthesizes a repaired spec, every candidate is validated against ground truth, a named human approves at the Gate, and the immutable new spec deploys. New in v0.2.0: the same machinery handles day zero — paste a URL and a few golden examples and the Surgeon synthesizes AND validates the initial spec. Live proof: books.toscrape.com onboarded from 3 pasted examples to 20 rows at 100% confidence. You never write a selector.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interactive: a judge breaks the site with one click, and watches the full detect-synthesize-validate-approve loop run live in mission control. The approval gate shows exactly what changed and how well it validates.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algorithm: anchor known-true facts in the new DOM — in node text or in attributes like title= and alt=, since real catalogs truncate visible titles — ascend to item containers, generalize per-shape candidate groups picking the most-specific container, and validate every candidate against ALL golden records. LLM suggestions get no shortcut — they pass the same validation. In v0.2.0 this exact machinery also bootstraps brand-new sources from pasted examples: 3 examples generalized to a 20-item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Safety is layered: Reweave's own approval gate, the MCP destructiveHint contract, and TrueForge's harness-level approval policy. Underneath: immutable spec versions, named-actor audit logs, and a deterministic extractor. New in v0.2.0: autopilot monitors every source continuously (60-second default, dashboard toggle) — but autonomy stops at the gate: deploys still require a named human.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sponsor is load-bearing: TrueForge drives Reweave over MCP — now 9 tools including add_source and get_rows — with a SKILL.md operator pack, Bright Data's Web Unlocker is the fetch layer, and Qodo's quality bar shows in the 20-test pytest suite including full lifecycle E2E.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impact is on screen, not in a spreadsheet: the dashboard books every heal to a live ledger. At fleet scale the math is $46,312 a year of recovered toil for a 50-scraper fleet — using conservative per-heal numbers. And in v0.2.0 the data actually flows out: runs are stored per source, a data drawer on the dashboard, CSV/JSON export, and an MCP get_rows tool — while autopilot re-checks every source on a 60-second cadence with deploys still human-gated.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Roadmap: multi-fleet SaaS, auto-tiered autonomy building on the v0.2.0 autopilot (repairs earn trust until high-confidence heals auto-deploy), and drift prediction. The ask: try it, break it, watch it heal — repo and live demo are both public.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417320"/>
            <a:ext cx="5669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0" b="1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</a:t>
            </a:r>
            <a:pPr algn="l" indent="0" marL="0">
              <a:buNone/>
            </a:pPr>
            <a:r>
              <a:rPr lang="en-US" sz="6200" b="1" dirty="0">
                <a:solidFill>
                  <a:srgbClr val="E9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weave</a:t>
            </a:r>
            <a:endParaRPr lang="en-US" sz="6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5420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SELF-HEALING WEB DATA PIPELINES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4612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i="1" dirty="0">
                <a:solidFill>
                  <a:srgbClr val="FFB4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“Break the site.
</a:t>
            </a:r>
            <a:pPr algn="l" indent="0" marL="0">
              <a:lnSpc>
                <a:spcPct val="115000"/>
              </a:lnSpc>
              <a:buNone/>
            </a:pPr>
            <a:r>
              <a:rPr lang="en-US" sz="2400" i="1" dirty="0">
                <a:solidFill>
                  <a:srgbClr val="FFB4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the agent stitch it back.”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61772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autonomous repair agent for web scrapers — you never write a selector, and a human holds the deploy key.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720840" y="1417320"/>
            <a:ext cx="4892040" cy="3246120"/>
          </a:xfrm>
          <a:prstGeom prst="roundRect">
            <a:avLst>
              <a:gd name="adj" fmla="val 1972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22008" y="1600200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8" name="Shape 6"/>
          <p:cNvSpPr/>
          <p:nvPr/>
        </p:nvSpPr>
        <p:spPr>
          <a:xfrm>
            <a:off x="7086600" y="160020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9" name="Shape 7"/>
          <p:cNvSpPr/>
          <p:nvPr/>
        </p:nvSpPr>
        <p:spPr>
          <a:xfrm>
            <a:off x="7251192" y="1600200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0" y="1828800"/>
            <a:ext cx="44348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reweave add books.toscrape.com +3 examples</a:t>
            </a:r>
            <a:endParaRPr lang="en-US" sz="10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spec v1 synthesized — no selectors written</a:t>
            </a:r>
            <a:endParaRPr lang="en-US" sz="10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reweave run demo://nimbusmart</a:t>
            </a:r>
            <a:endParaRPr lang="en-US" sz="10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FF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target site shipped a redesign</a:t>
            </a:r>
            <a:endParaRPr lang="en-US" sz="10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drift detected: 8 rows → 0 · 100% nulls</a:t>
            </a:r>
            <a:endParaRPr lang="en-US" sz="10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surgeon: 4 selector changes synthesized</a:t>
            </a:r>
            <a:endParaRPr lang="en-US" sz="10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validated against 8/8 golden records</a:t>
            </a:r>
            <a:endParaRPr lang="en-US" sz="10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heal approved by moorthy → spec v2 live</a:t>
            </a:r>
            <a:endParaRPr lang="en-US" sz="10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9 rows · confidence 100% · +$142.50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Harness Hackathon · Aug 30, 2026 · San Francisco · hosted at Bright Data · built on TrueForge · v0.2.0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THE PAIN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scraper maintenance treadmill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70048" cy="2148840"/>
          </a:xfrm>
          <a:prstGeom prst="roundRect">
            <a:avLst>
              <a:gd name="adj" fmla="val 2979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2286000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B4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10–15%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04672" y="2926080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scrapers break every single week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355848" y="1463040"/>
            <a:ext cx="2670048" cy="2148840"/>
          </a:xfrm>
          <a:prstGeom prst="roundRect">
            <a:avLst>
              <a:gd name="adj" fmla="val 2979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73736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11880" y="2286000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9D3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~100</a:t>
            </a:r>
            <a:endParaRPr 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3611880" y="2926080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scrapers is where a solo maintainer caps out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163056" y="1463040"/>
            <a:ext cx="2670048" cy="2148840"/>
          </a:xfrm>
          <a:prstGeom prst="roundRect">
            <a:avLst>
              <a:gd name="adj" fmla="val 2979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173736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19088" y="2286000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B4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Sprints</a:t>
            </a:r>
            <a:endParaRPr lang="en-US" sz="3200" dirty="0"/>
          </a:p>
        </p:txBody>
      </p:sp>
      <p:sp>
        <p:nvSpPr>
          <p:cNvPr id="15" name="Text 10"/>
          <p:cNvSpPr txBox="1"/>
          <p:nvPr/>
        </p:nvSpPr>
        <p:spPr>
          <a:xfrm>
            <a:off x="6419088" y="2926080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vanish into selector fixes, team after team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8970264" y="1463040"/>
            <a:ext cx="2670048" cy="2148840"/>
          </a:xfrm>
          <a:prstGeom prst="roundRect">
            <a:avLst>
              <a:gd name="adj" fmla="val 2979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6296" y="1737360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226296" y="2286000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</a:t>
            </a:r>
            <a:endParaRPr lang="en-US" sz="3200" dirty="0"/>
          </a:p>
        </p:txBody>
      </p:sp>
      <p:sp>
        <p:nvSpPr>
          <p:cNvPr id="19" name="Text 13"/>
          <p:cNvSpPr txBox="1"/>
          <p:nvPr/>
        </p:nvSpPr>
        <p:spPr>
          <a:xfrm>
            <a:off x="9226296" y="2926080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silent bad data — no crash, no alert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548640" y="3977640"/>
            <a:ext cx="11091672" cy="1371600"/>
          </a:xfrm>
          <a:prstGeom prst="roundRect">
            <a:avLst>
              <a:gd name="adj" fmla="val 4667"/>
            </a:avLst>
          </a:prstGeom>
          <a:solidFill>
            <a:srgbClr val="121B27"/>
          </a:solidFill>
          <a:ln w="12700">
            <a:solidFill>
              <a:srgbClr val="22303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68680" y="4206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MATH · A 50-SCRAPER FLEET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868680" y="45262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~325 breaks/yr</a:t>
            </a:r>
            <a:pPr algn="l" indent="0" marL="0">
              <a:buNone/>
            </a:pPr>
            <a:r>
              <a:rPr lang="en-US" sz="170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  </a:t>
            </a:r>
            <a:pPr algn="l" indent="0" marL="0">
              <a:buNone/>
            </a:pPr>
            <a:r>
              <a:rPr lang="en-US" sz="1700" b="1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~487 engineer-hours</a:t>
            </a:r>
            <a:pPr algn="l" indent="0" marL="0">
              <a:buNone/>
            </a:pPr>
            <a:r>
              <a:rPr lang="en-US" sz="170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  </a:t>
            </a:r>
            <a:pPr algn="l" indent="0" marL="0">
              <a:buNone/>
            </a:pPr>
            <a:r>
              <a:rPr lang="en-US" sz="1700" b="1" dirty="0">
                <a:solidFill>
                  <a:srgbClr val="FF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$46,312/yr</a:t>
            </a:r>
            <a:pPr algn="l" indent="0" marL="0">
              <a:buNone/>
            </a:pPr>
            <a:r>
              <a:rPr lang="en-US" sz="1700" dirty="0">
                <a:solidFill>
                  <a:srgbClr val="E9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of pure toil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5778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numbers, real pain — sourced from maintainer threads on r/webscraping.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52881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</a:t>
            </a:r>
            <a:pPr algn="l" indent="0" marL="0">
              <a:buNone/>
            </a:pPr>
            <a:r>
              <a:rPr lang="en-US" sz="1000" b="1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weave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10177272" y="6528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WHY NOW, WHY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Chatbots answer. Agents act.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3063240"/>
          </a:xfrm>
          <a:prstGeom prst="roundRect">
            <a:avLst>
              <a:gd name="adj" fmla="val 2090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8470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1248" y="2450592"/>
            <a:ext cx="2980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100" kern="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CHATBOTS ANSWER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841248" y="2852928"/>
            <a:ext cx="2980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Draft, summarize, suggest. Useful — but a human still does all of the doing.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411480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leverage: low · risk: low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11396" y="1554480"/>
            <a:ext cx="3566160" cy="3063240"/>
          </a:xfrm>
          <a:prstGeom prst="roundRect">
            <a:avLst>
              <a:gd name="adj" fmla="val 2090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004" y="18470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04004" y="2450592"/>
            <a:ext cx="2980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100" kern="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 ACT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4604004" y="2852928"/>
            <a:ext cx="2980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run pipelines, rewrite specs, deploy changes — real side effects in real systems.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604004" y="411480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leverage: high · risk: high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74152" y="1554480"/>
            <a:ext cx="3566160" cy="3063240"/>
          </a:xfrm>
          <a:prstGeom prst="roundRect">
            <a:avLst>
              <a:gd name="adj" fmla="val 2090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8470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66760" y="2450592"/>
            <a:ext cx="2980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100" kern="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NEEDS GATES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8366760" y="2852928"/>
            <a:ext cx="2980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Trustworthy autonomy = evidence-validated repairs, plus a human holding the deploy key.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366760" y="411480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leverage: kept · risk: governed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hackathon question: what does a trustworthy acting agent look like?
</a:t>
            </a:r>
            <a:pPr algn="l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39D3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Reweave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our answer — an agent that acts, proves, and asks before it ships.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652881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</a:t>
            </a:r>
            <a:pPr algn="l" indent="0" marL="0">
              <a:buNone/>
            </a:pPr>
            <a:r>
              <a:rPr lang="en-US" sz="1000" b="1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weave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0177272" y="6528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WHAT REWEAVE DOES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broken to healed in 30 seconds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965960" cy="2377440"/>
          </a:xfrm>
          <a:prstGeom prst="roundRect">
            <a:avLst>
              <a:gd name="adj" fmla="val 3256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673352"/>
            <a:ext cx="347472" cy="3474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9808" y="2139696"/>
            <a:ext cx="1563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2395728"/>
            <a:ext cx="156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D3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2688336"/>
            <a:ext cx="1563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Sentinel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2980944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Golden-record checks catch silent drift: row collapse, null spikes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2496312" y="2441448"/>
            <a:ext cx="3520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9D3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830068" y="1463040"/>
            <a:ext cx="1965960" cy="2377440"/>
          </a:xfrm>
          <a:prstGeom prst="roundRect">
            <a:avLst>
              <a:gd name="adj" fmla="val 3256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1236" y="1673352"/>
            <a:ext cx="347472" cy="34747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031236" y="2139696"/>
            <a:ext cx="1563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3031236" y="2395728"/>
            <a:ext cx="156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4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031236" y="2688336"/>
            <a:ext cx="1563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Surgeon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3031236" y="2980944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Re-anchors known facts, builds a repaired extraction spec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777740" y="2441448"/>
            <a:ext cx="3520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9D3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111496" y="1463040"/>
            <a:ext cx="1965960" cy="2377440"/>
          </a:xfrm>
          <a:prstGeom prst="roundRect">
            <a:avLst>
              <a:gd name="adj" fmla="val 3256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664" y="1673352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312664" y="2139696"/>
            <a:ext cx="1563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5312664" y="2395728"/>
            <a:ext cx="156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D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5312664" y="2688336"/>
            <a:ext cx="1563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5312664" y="2980944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candidate must reproduce all golden records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7059168" y="2441448"/>
            <a:ext cx="3520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9D3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7392924" y="1463040"/>
            <a:ext cx="1965960" cy="2377440"/>
          </a:xfrm>
          <a:prstGeom prst="roundRect">
            <a:avLst>
              <a:gd name="adj" fmla="val 3256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4092" y="1673352"/>
            <a:ext cx="347472" cy="34747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594092" y="2139696"/>
            <a:ext cx="1563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7594092" y="2395728"/>
            <a:ext cx="156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D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7594092" y="2688336"/>
            <a:ext cx="1563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Gate</a:t>
            </a:r>
            <a:endParaRPr lang="en-US" sz="950" dirty="0"/>
          </a:p>
        </p:txBody>
      </p:sp>
      <p:sp>
        <p:nvSpPr>
          <p:cNvPr id="30" name="Text 24"/>
          <p:cNvSpPr txBox="1"/>
          <p:nvPr/>
        </p:nvSpPr>
        <p:spPr>
          <a:xfrm>
            <a:off x="7594092" y="2980944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named human reviews diffs, match rates, sample rows</a:t>
            </a:r>
            <a:endParaRPr lang="en-US" sz="1000" dirty="0"/>
          </a:p>
        </p:txBody>
      </p:sp>
      <p:sp>
        <p:nvSpPr>
          <p:cNvPr id="31" name="Text 25"/>
          <p:cNvSpPr txBox="1"/>
          <p:nvPr/>
        </p:nvSpPr>
        <p:spPr>
          <a:xfrm>
            <a:off x="9340596" y="2441448"/>
            <a:ext cx="3520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9D3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Shape 26"/>
          <p:cNvSpPr/>
          <p:nvPr/>
        </p:nvSpPr>
        <p:spPr>
          <a:xfrm>
            <a:off x="9674352" y="1463040"/>
            <a:ext cx="1965960" cy="2377440"/>
          </a:xfrm>
          <a:prstGeom prst="roundRect">
            <a:avLst>
              <a:gd name="adj" fmla="val 3256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0" y="1673352"/>
            <a:ext cx="347472" cy="34747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875520" y="2139696"/>
            <a:ext cx="1563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  <p:sp>
        <p:nvSpPr>
          <p:cNvPr id="35" name="Text 28"/>
          <p:cNvSpPr txBox="1"/>
          <p:nvPr/>
        </p:nvSpPr>
        <p:spPr>
          <a:xfrm>
            <a:off x="9875520" y="2395728"/>
            <a:ext cx="156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D3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9875520" y="2688336"/>
            <a:ext cx="1563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v2</a:t>
            </a:r>
            <a:endParaRPr lang="en-US" sz="950" dirty="0"/>
          </a:p>
        </p:txBody>
      </p:sp>
      <p:sp>
        <p:nvSpPr>
          <p:cNvPr id="37" name="Text 30"/>
          <p:cNvSpPr txBox="1"/>
          <p:nvPr/>
        </p:nvSpPr>
        <p:spPr>
          <a:xfrm>
            <a:off x="9875520" y="2980944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Immutable version goes live; impact booked to the ledger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548640" y="4114800"/>
            <a:ext cx="11091672" cy="1463040"/>
          </a:xfrm>
          <a:prstGeom prst="roundRect">
            <a:avLst>
              <a:gd name="adj" fmla="val 4375"/>
            </a:avLst>
          </a:prstGeom>
          <a:solidFill>
            <a:srgbClr val="121B27"/>
          </a:solidFill>
          <a:ln w="12700">
            <a:solidFill>
              <a:srgbClr val="22303F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6263640" y="4370832"/>
            <a:ext cx="0" cy="960120"/>
          </a:xfrm>
          <a:prstGeom prst="line">
            <a:avLst/>
          </a:prstGeom>
          <a:noFill/>
          <a:ln w="12700">
            <a:solidFill>
              <a:srgbClr val="22303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868680" y="43159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ZERO — NEW IN v0.2.0</a:t>
            </a:r>
            <a:endParaRPr lang="en-US" sz="1050" dirty="0"/>
          </a:p>
        </p:txBody>
      </p:sp>
      <p:sp>
        <p:nvSpPr>
          <p:cNvPr id="41" name="Text 34"/>
          <p:cNvSpPr txBox="1"/>
          <p:nvPr/>
        </p:nvSpPr>
        <p:spPr>
          <a:xfrm>
            <a:off x="868680" y="4626864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a URL + a few golden examples — the Surgeon writes and proves the spec itself.</a:t>
            </a:r>
            <a:endParaRPr lang="en-US" sz="1250" dirty="0"/>
          </a:p>
        </p:txBody>
      </p:sp>
      <p:sp>
        <p:nvSpPr>
          <p:cNvPr id="42" name="Text 35"/>
          <p:cNvSpPr txBox="1"/>
          <p:nvPr/>
        </p:nvSpPr>
        <p:spPr>
          <a:xfrm>
            <a:off x="868680" y="523036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books.toscrape.com · 3 examples → 20 rows @ 100%</a:t>
            </a:r>
            <a:endParaRPr lang="en-US" sz="1000" dirty="0"/>
          </a:p>
        </p:txBody>
      </p:sp>
      <p:sp>
        <p:nvSpPr>
          <p:cNvPr id="43" name="Text 36"/>
          <p:cNvSpPr txBox="1"/>
          <p:nvPr/>
        </p:nvSpPr>
        <p:spPr>
          <a:xfrm>
            <a:off x="6537960" y="43159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BREAK AFTER</a:t>
            </a:r>
            <a:endParaRPr lang="en-US" sz="1050" dirty="0"/>
          </a:p>
        </p:txBody>
      </p:sp>
      <p:sp>
        <p:nvSpPr>
          <p:cNvPr id="44" name="Text 37"/>
          <p:cNvSpPr txBox="1"/>
          <p:nvPr/>
        </p:nvSpPr>
        <p:spPr>
          <a:xfrm>
            <a:off x="6537960" y="4626864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minutes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manual selector surgery becomes a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DD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30-second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review-and-approve.</a:t>
            </a:r>
            <a:endParaRPr lang="en-US" sz="1250" dirty="0"/>
          </a:p>
        </p:txBody>
      </p:sp>
      <p:sp>
        <p:nvSpPr>
          <p:cNvPr id="45" name="Text 38"/>
          <p:cNvSpPr txBox="1"/>
          <p:nvPr/>
        </p:nvSpPr>
        <p:spPr>
          <a:xfrm>
            <a:off x="548640" y="580644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B4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“You never write a selector. Not even on day one.”</a:t>
            </a:r>
            <a:endParaRPr lang="en-US" sz="1500" dirty="0"/>
          </a:p>
        </p:txBody>
      </p:sp>
      <p:sp>
        <p:nvSpPr>
          <p:cNvPr id="46" name="Text 39"/>
          <p:cNvSpPr txBox="1"/>
          <p:nvPr/>
        </p:nvSpPr>
        <p:spPr>
          <a:xfrm>
            <a:off x="548640" y="652881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</a:t>
            </a:r>
            <a:pPr algn="l" indent="0" marL="0">
              <a:buNone/>
            </a:pPr>
            <a:r>
              <a:rPr lang="en-US" sz="1000" b="1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weave</a:t>
            </a:r>
            <a:endParaRPr lang="en-US" sz="1000" dirty="0"/>
          </a:p>
        </p:txBody>
      </p:sp>
      <p:sp>
        <p:nvSpPr>
          <p:cNvPr id="47" name="Text 40"/>
          <p:cNvSpPr txBox="1"/>
          <p:nvPr/>
        </p:nvSpPr>
        <p:spPr>
          <a:xfrm>
            <a:off x="10177272" y="6528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THE DEMO MOMENT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the site live. Watch it heal.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85216" y="1801368"/>
            <a:ext cx="100584" cy="100584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41248" y="17373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judge clicks “Ship redesign”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target site mutates under the scraper.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85216" y="2843784"/>
            <a:ext cx="100584" cy="100584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779776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B4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Sentinel flags drift in seconds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8 rows collapse to 0, every field goes null.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5216" y="3886200"/>
            <a:ext cx="100584" cy="100584"/>
          </a:xfrm>
          <a:prstGeom prst="ellipse">
            <a:avLst/>
          </a:prstGeom>
          <a:solidFill>
            <a:srgbClr val="39D3E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41248" y="3822192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9D3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Surgeon proposes a repair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4 selector changes, validated at 100% against golden records.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5216" y="4928616"/>
            <a:ext cx="100584" cy="100584"/>
          </a:xfrm>
          <a:prstGeom prst="ellipse">
            <a:avLst/>
          </a:prstGeom>
          <a:solidFill>
            <a:srgbClr val="3DDC8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4864608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DD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Gate holds the deploy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until a named human reviews the diff and approves.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989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vnmoorthy.github.io/reweave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041648" y="1316736"/>
            <a:ext cx="7653528" cy="4824603"/>
          </a:xfrm>
          <a:prstGeom prst="roundRect">
            <a:avLst>
              <a:gd name="adj" fmla="val 948"/>
            </a:avLst>
          </a:prstGeom>
          <a:solidFill>
            <a:srgbClr val="121B27"/>
          </a:solidFill>
          <a:ln w="15875">
            <a:solidFill>
              <a:srgbClr val="22303F"/>
            </a:solidFill>
            <a:prstDash val="solid"/>
          </a:ln>
        </p:spPr>
      </p:sp>
      <p:pic>
        <p:nvPicPr>
          <p:cNvPr id="14" name="Image 0" descr="/Users/moorthy/Downloads/Projects/hybridhack/reweave/docs/assets/dashboard-g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6512" y="1371600"/>
            <a:ext cx="7543800" cy="4714875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4096512" y="6196203"/>
            <a:ext cx="7543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mission control · the approval gate: per-field selector diffs, match rates, sample rows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52881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</a:t>
            </a:r>
            <a:pPr algn="l" indent="0" marL="0">
              <a:buNone/>
            </a:pPr>
            <a:r>
              <a:rPr lang="en-US" sz="1000" b="1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weave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0177272" y="6528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Record-anchored selector synthesis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0200"/>
            <a:ext cx="329184" cy="329184"/>
          </a:xfrm>
          <a:prstGeom prst="ellipse">
            <a:avLst/>
          </a:prstGeom>
          <a:solidFill>
            <a:srgbClr val="39D3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" y="158191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1060704" y="192024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Re-locate known-true facts in node text or attributes (title= / alt=) — anywhere in the new DOM.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87752"/>
            <a:ext cx="329184" cy="329184"/>
          </a:xfrm>
          <a:prstGeom prst="ellipse">
            <a:avLst/>
          </a:prstGeom>
          <a:solidFill>
            <a:srgbClr val="39D3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60704" y="256946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Ascend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2907792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up from each anchored fact to find the repeating item container.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575304"/>
            <a:ext cx="329184" cy="329184"/>
          </a:xfrm>
          <a:prstGeom prst="ellipse">
            <a:avLst/>
          </a:prstGeom>
          <a:solidFill>
            <a:srgbClr val="39D3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0704" y="3557016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Generalize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1060704" y="3895344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candidates by shape and distill shared CSS signatures — the most-specific container wins.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562856"/>
            <a:ext cx="329184" cy="329184"/>
          </a:xfrm>
          <a:prstGeom prst="ellipse">
            <a:avLst/>
          </a:prstGeom>
          <a:solidFill>
            <a:srgbClr val="39D3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60704" y="45445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060704" y="4882896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only candidates that reproduce ALL golden records — LLM hints face the same bar.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1554480"/>
            <a:ext cx="5239512" cy="3977640"/>
          </a:xfrm>
          <a:prstGeom prst="roundRect">
            <a:avLst>
              <a:gd name="adj" fmla="val 1609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1773936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SYNTHESIZED REPAIR · heal_d4bd304690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2176272"/>
            <a:ext cx="1051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050" b="1" dirty="0">
                <a:solidFill>
                  <a:srgbClr val="E9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container</a:t>
            </a:r>
            <a:endParaRPr lang="en-US" sz="10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050" b="1" dirty="0">
                <a:solidFill>
                  <a:srgbClr val="E9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endParaRPr lang="en-US" sz="10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050" b="1" dirty="0">
                <a:solidFill>
                  <a:srgbClr val="E9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</a:t>
            </a:r>
            <a:endParaRPr lang="en-US" sz="10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050" b="1" dirty="0">
                <a:solidFill>
                  <a:srgbClr val="E9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818120" y="2176272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050" strike="sngStrike" dirty="0">
                <a:solidFill>
                  <a:srgbClr val="FF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div.product-card</a:t>
            </a:r>
            <a:pPr algn="l" indent="0" marL="0">
              <a:lnSpc>
                <a:spcPts val="2400"/>
              </a:lnSpc>
              <a:buNone/>
            </a:pPr>
            <a:r>
              <a:rPr lang="en-US" sz="105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→ </a:t>
            </a:r>
            <a:pPr algn="l" indent="0" marL="0">
              <a:lnSpc>
                <a:spcPts val="2400"/>
              </a:lnSpc>
              <a:buNone/>
            </a:pPr>
            <a:r>
              <a:rPr lang="en-US" sz="10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article.tile</a:t>
            </a:r>
            <a:endParaRPr lang="en-US" sz="10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050" strike="sngStrike" dirty="0">
                <a:solidFill>
                  <a:srgbClr val="FF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h3.product-name</a:t>
            </a:r>
            <a:pPr algn="l" indent="0" marL="0">
              <a:lnSpc>
                <a:spcPts val="2400"/>
              </a:lnSpc>
              <a:buNone/>
            </a:pPr>
            <a:r>
              <a:rPr lang="en-US" sz="105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→ </a:t>
            </a:r>
            <a:pPr algn="l" indent="0" marL="0">
              <a:lnSpc>
                <a:spcPts val="2400"/>
              </a:lnSpc>
              <a:buNone/>
            </a:pPr>
            <a:r>
              <a:rPr lang="en-US" sz="10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h2.tile__heading</a:t>
            </a:r>
            <a:endParaRPr lang="en-US" sz="10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050" strike="sngStrike" dirty="0">
                <a:solidFill>
                  <a:srgbClr val="FF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span.price-tag</a:t>
            </a:r>
            <a:pPr algn="l" indent="0" marL="0">
              <a:lnSpc>
                <a:spcPts val="2400"/>
              </a:lnSpc>
              <a:buNone/>
            </a:pPr>
            <a:r>
              <a:rPr lang="en-US" sz="105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→ </a:t>
            </a:r>
            <a:pPr algn="l" indent="0" marL="0">
              <a:lnSpc>
                <a:spcPts val="2400"/>
              </a:lnSpc>
              <a:buNone/>
            </a:pPr>
            <a:r>
              <a:rPr lang="en-US" sz="10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span.cost__now</a:t>
            </a:r>
            <a:endParaRPr lang="en-US" sz="10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050" strike="sngStrike" dirty="0">
                <a:solidFill>
                  <a:srgbClr val="FF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a.product-link</a:t>
            </a:r>
            <a:pPr algn="l" indent="0" marL="0">
              <a:lnSpc>
                <a:spcPts val="2400"/>
              </a:lnSpc>
              <a:buNone/>
            </a:pPr>
            <a:r>
              <a:rPr lang="en-US" sz="105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→ </a:t>
            </a:r>
            <a:pPr algn="l" indent="0" marL="0">
              <a:lnSpc>
                <a:spcPts val="2400"/>
              </a:lnSpc>
              <a:buNone/>
            </a:pPr>
            <a:r>
              <a:rPr lang="en-US" sz="10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a.tile__link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0771632" y="2176272"/>
            <a:ext cx="594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050" b="1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</a:t>
            </a:r>
            <a:endParaRPr lang="en-US" sz="10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050" b="1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</a:t>
            </a:r>
            <a:endParaRPr lang="en-US" sz="10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050" b="1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</a:t>
            </a:r>
            <a:endParaRPr lang="en-US" sz="10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050" b="1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675120" y="3886200"/>
            <a:ext cx="4690872" cy="0"/>
          </a:xfrm>
          <a:prstGeom prst="line">
            <a:avLst/>
          </a:prstGeom>
          <a:noFill/>
          <a:ln w="12700">
            <a:solidFill>
              <a:srgbClr val="22303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75120" y="4069080"/>
            <a:ext cx="4690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0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anchored 8/8 golden records in the new DOM</a:t>
            </a:r>
            <a:endParaRPr lang="en-US" sz="10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00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anchors match node text or title=/alt= attrs</a:t>
            </a:r>
            <a:endParaRPr lang="en-US" sz="10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00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container generalized: 9 matches on page</a:t>
            </a:r>
            <a:endParaRPr lang="en-US" sz="10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00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extractor stays deterministic — no LLM in the hot path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76072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i="1" dirty="0">
                <a:solidFill>
                  <a:srgbClr val="FFB4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“Evidence over vibes”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every repair is proven against ground truth. And the same machinery onboards new sources from pasted examples — zero selectors, ever.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52881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</a:t>
            </a:r>
            <a:pPr algn="l" indent="0" marL="0">
              <a:buNone/>
            </a:pPr>
            <a:r>
              <a:rPr lang="en-US" sz="1000" b="1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weave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177272" y="6528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SAFETY 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gates between a repair and production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577840" cy="1298448"/>
          </a:xfrm>
          <a:prstGeom prst="roundRect">
            <a:avLst>
              <a:gd name="adj" fmla="val 4930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810512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719072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REWEAVE GATE  </a:t>
            </a:r>
            <a:pPr indent="0" marL="0">
              <a:buNone/>
            </a:pPr>
            <a:r>
              <a:rPr lang="en-US" sz="95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1 · in the product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202996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Repairs quarantined until a named human approves — full before/after diffs, per-field match rates, sample rows.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999232"/>
            <a:ext cx="5577840" cy="1298448"/>
          </a:xfrm>
          <a:prstGeom prst="roundRect">
            <a:avLst>
              <a:gd name="adj" fmla="val 4930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255264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3163824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CONTRACT  </a:t>
            </a:r>
            <a:pPr indent="0" marL="0">
              <a:buNone/>
            </a:pPr>
            <a:r>
              <a:rPr lang="en-US" sz="95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2 · in the protocol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371600" y="34747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approve_heal ships marked destructiveHint — every client knows this tool has consequences.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4443984"/>
            <a:ext cx="5577840" cy="1298448"/>
          </a:xfrm>
          <a:prstGeom prst="roundRect">
            <a:avLst>
              <a:gd name="adj" fmla="val 4930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4700016"/>
            <a:ext cx="365760" cy="365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4608576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TRUEFORGE HARNESS  </a:t>
            </a:r>
            <a:pPr indent="0" marL="0">
              <a:buNone/>
            </a:pPr>
            <a:r>
              <a:rPr lang="en-US" sz="95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3 · in the harness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371600" y="4919472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TrueForge layers its own human-approval policy on top. Defense in depth, by design.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6492240" y="16002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THE RECORD KEEPS EVERYONE HONEST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528816" y="2176272"/>
            <a:ext cx="91440" cy="91440"/>
          </a:xfrm>
          <a:prstGeom prst="ellipse">
            <a:avLst/>
          </a:prstGeom>
          <a:solidFill>
            <a:srgbClr val="39D3E6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6766560" y="210312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Immutable spec versions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SQLite registry — rollback is instant, history is forever.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528816" y="3108960"/>
            <a:ext cx="91440" cy="91440"/>
          </a:xfrm>
          <a:prstGeom prst="ellipse">
            <a:avLst/>
          </a:prstGeom>
          <a:solidFill>
            <a:srgbClr val="39D3E6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766560" y="3035808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audit-logged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the actor's name — accountability, not anonymity.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528816" y="4041648"/>
            <a:ext cx="91440" cy="91440"/>
          </a:xfrm>
          <a:prstGeom prst="ellipse">
            <a:avLst/>
          </a:prstGeom>
          <a:solidFill>
            <a:srgbClr val="39D3E6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6766560" y="3968496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extractor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all intelligence lives in the Surgeon, none in the hot path.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528816" y="4974336"/>
            <a:ext cx="91440" cy="91440"/>
          </a:xfrm>
          <a:prstGeom prst="ellipse">
            <a:avLst/>
          </a:prstGeom>
          <a:solidFill>
            <a:srgbClr val="39D3E6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766560" y="4901184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Autopilot, still gated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continuous 60-second monitoring; every deploy still waits for a named human.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652881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</a:t>
            </a:r>
            <a:pPr algn="l" indent="0" marL="0">
              <a:buNone/>
            </a:pPr>
            <a:r>
              <a:rPr lang="en-US" sz="1000" b="1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weave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10177272" y="6528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SPONSOR INTEGRATION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the sponsor stack, end to end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66160" cy="3977640"/>
          </a:xfrm>
          <a:prstGeom prst="roundRect">
            <a:avLst>
              <a:gd name="adj" fmla="val 1795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783080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1248" y="2331720"/>
            <a:ext cx="2980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9D3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TRUEFOUNDRY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41248" y="2670048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TrueForge harness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3063240"/>
            <a:ext cx="29809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Reweave ships as an MCP server that TrueForge drives end-to-end — onboard, run, heal, approve — plus a SKILL.md operator pack and approval policy.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4526280"/>
            <a:ext cx="2980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MCP tools, incl: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add_source · get_rows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run_pipeline · list_pending_heals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approve_heal · destructiveHint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11396" y="1508760"/>
            <a:ext cx="3566160" cy="3977640"/>
          </a:xfrm>
          <a:prstGeom prst="roundRect">
            <a:avLst>
              <a:gd name="adj" fmla="val 1795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004" y="1783080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04004" y="2331720"/>
            <a:ext cx="2980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4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BRIGHT DATA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604004" y="2670048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 Unlocker · our hosts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4604004" y="3063240"/>
            <a:ext cx="29809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Unlocker is the fetch layer for hostile production sites — and self-healing extraction extends their data-reliability story.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604004" y="4526280"/>
            <a:ext cx="2980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fetch: web-unlocker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target: any production site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074152" y="1508760"/>
            <a:ext cx="3566160" cy="3977640"/>
          </a:xfrm>
          <a:prstGeom prst="roundRect">
            <a:avLst>
              <a:gd name="adj" fmla="val 1795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783080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66760" y="2331720"/>
            <a:ext cx="2980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DD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QODO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366760" y="2670048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 quality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8366760" y="3063240"/>
            <a:ext cx="29809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is part of the pitch: a deterministic core with full test coverage of the heal lifecycle.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366760" y="4526280"/>
            <a:ext cx="2980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pytest: 20 passed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incl. break→heal→deploy E2E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58064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base: TrueForge · judged by TrueFoundry, Qodo &amp; Bright Data — this build runs on all three.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652881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</a:t>
            </a:r>
            <a:pPr algn="l" indent="0" marL="0">
              <a:buNone/>
            </a:pPr>
            <a:r>
              <a:rPr lang="en-US" sz="1000" b="1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weave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10177272" y="6528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IMPACT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Toil becomes a 30-second review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93776" y="1362456"/>
            <a:ext cx="7150608" cy="4510278"/>
          </a:xfrm>
          <a:prstGeom prst="roundRect">
            <a:avLst>
              <a:gd name="adj" fmla="val 1014"/>
            </a:avLst>
          </a:prstGeom>
          <a:solidFill>
            <a:srgbClr val="121B27"/>
          </a:solidFill>
          <a:ln w="15875">
            <a:solidFill>
              <a:srgbClr val="22303F"/>
            </a:solidFill>
            <a:prstDash val="solid"/>
          </a:ln>
        </p:spPr>
      </p:sp>
      <p:pic>
        <p:nvPicPr>
          <p:cNvPr id="5" name="Image 0" descr="/Users/moorthy/Downloads/Projects/hybridhack/reweave/docs/assets/dashboard-heal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040880" cy="44005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92759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 the heal: spec v2 live, 9 rows at 100% confidence, ledger updated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7818120" y="1417320"/>
            <a:ext cx="3822192" cy="1207008"/>
          </a:xfrm>
          <a:prstGeom prst="roundRect">
            <a:avLst>
              <a:gd name="adj" fmla="val 5303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92440" y="1545336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D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$46,312 / yr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2020824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selector toil absorbed, per 50-scraper fleet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2734056"/>
            <a:ext cx="3822192" cy="1207008"/>
          </a:xfrm>
          <a:prstGeom prst="roundRect">
            <a:avLst>
              <a:gd name="adj" fmla="val 5303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92440" y="28620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9D3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min → 30 s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092440" y="333756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manual selector surgery to review-and-approve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18120" y="4050792"/>
            <a:ext cx="3822192" cy="1207008"/>
          </a:xfrm>
          <a:prstGeom prst="roundRect">
            <a:avLst>
              <a:gd name="adj" fmla="val 5303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92440" y="4178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4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$142.50 / heal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8092440" y="4654296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booked to a live impact ledger — conservative math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18120" y="5367528"/>
            <a:ext cx="3822192" cy="987552"/>
          </a:xfrm>
          <a:prstGeom prst="roundRect">
            <a:avLst>
              <a:gd name="adj" fmla="val 6481"/>
            </a:avLst>
          </a:prstGeom>
          <a:solidFill>
            <a:srgbClr val="121B27"/>
          </a:solidFill>
          <a:ln w="12700">
            <a:solidFill>
              <a:srgbClr val="22303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92440" y="54864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· DATA OUT + AUTOPILOT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92440" y="5751576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csv/json export · runs stored · get_rows</a:t>
            </a:r>
            <a:endParaRPr lang="en-US" sz="9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autopilot watch · 60s · deploys human-gated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52881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</a:t>
            </a:r>
            <a:pPr algn="l" indent="0" marL="0">
              <a:buNone/>
            </a:pPr>
            <a:r>
              <a:rPr lang="en-US" sz="1000" b="1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weave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77272" y="6528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ROADMAP + ASK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goes next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66160" cy="2286000"/>
          </a:xfrm>
          <a:prstGeom prst="roundRect">
            <a:avLst>
              <a:gd name="adj" fmla="val 2800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719072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1248" y="2240280"/>
            <a:ext cx="2980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9D3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Multi-fleet SaaS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841248" y="2606040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Sentinel watching thousands of scrapers across teams — heal once, learn everywhere.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11396" y="1463040"/>
            <a:ext cx="3566160" cy="2286000"/>
          </a:xfrm>
          <a:prstGeom prst="roundRect">
            <a:avLst>
              <a:gd name="adj" fmla="val 2800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004" y="171907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4004" y="2240280"/>
            <a:ext cx="2980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B4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Auto-tiered autonomy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4604004" y="2606040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Autopilot already watches 24/7 — next, repairs earn trust: high-confidence heals auto-deploy, risky ones stay gated.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8074152" y="1463040"/>
            <a:ext cx="3566160" cy="2286000"/>
          </a:xfrm>
          <a:prstGeom prst="roundRect">
            <a:avLst>
              <a:gd name="adj" fmla="val 2800"/>
            </a:avLst>
          </a:prstGeom>
          <a:solidFill>
            <a:srgbClr val="0D141D"/>
          </a:solidFill>
          <a:ln w="12700">
            <a:solidFill>
              <a:srgbClr val="22303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719072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66760" y="2240280"/>
            <a:ext cx="2980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DD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Drift prediction</a:t>
            </a:r>
            <a:endParaRPr lang="en-US" sz="1650" dirty="0"/>
          </a:p>
        </p:txBody>
      </p:sp>
      <p:sp>
        <p:nvSpPr>
          <p:cNvPr id="15" name="Text 10"/>
          <p:cNvSpPr txBox="1"/>
          <p:nvPr/>
        </p:nvSpPr>
        <p:spPr>
          <a:xfrm>
            <a:off x="8366760" y="2606040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 selectors decaying before they break — schedule the surgery, skip the outage.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8640" y="4114800"/>
            <a:ext cx="11091672" cy="1828800"/>
          </a:xfrm>
          <a:prstGeom prst="roundRect">
            <a:avLst>
              <a:gd name="adj" fmla="val 3500"/>
            </a:avLst>
          </a:prstGeom>
          <a:solidFill>
            <a:srgbClr val="121B27"/>
          </a:solidFill>
          <a:ln w="12700">
            <a:solidFill>
              <a:srgbClr val="22303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68680" y="4343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ASK</a:t>
            </a:r>
            <a:endParaRPr 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868680" y="46634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E9E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the site. Watch the agent stitch it back.
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B9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help us take self-healing pipelines to every fleet.</a:t>
            </a:r>
            <a:endParaRPr lang="en-US" sz="19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828032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339328" y="48006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github.com/vnmoorthy/reweave</a:t>
            </a:r>
            <a:endParaRPr lang="en-US" sz="115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5285232"/>
            <a:ext cx="237744" cy="23774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339328" y="5257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vnmoorthy.github.io/reweave</a:t>
            </a:r>
            <a:endParaRPr lang="en-US" sz="1150" dirty="0"/>
          </a:p>
        </p:txBody>
      </p:sp>
      <p:sp>
        <p:nvSpPr>
          <p:cNvPr id="23" name="Text 16"/>
          <p:cNvSpPr txBox="1"/>
          <p:nvPr/>
        </p:nvSpPr>
        <p:spPr>
          <a:xfrm>
            <a:off x="548640" y="652881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</a:t>
            </a:r>
            <a:pPr algn="l" indent="0" marL="0">
              <a:buNone/>
            </a:pPr>
            <a:r>
              <a:rPr lang="en-US" sz="1000" b="1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weave</a:t>
            </a:r>
            <a:endParaRPr lang="en-US" sz="1000" dirty="0"/>
          </a:p>
        </p:txBody>
      </p:sp>
      <p:sp>
        <p:nvSpPr>
          <p:cNvPr id="24" name="Text 17"/>
          <p:cNvSpPr txBox="1"/>
          <p:nvPr/>
        </p:nvSpPr>
        <p:spPr>
          <a:xfrm>
            <a:off x="10177272" y="6528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Reweave — self-healing web data pipelines</dc:title>
  <dc:subject>PptxGenJS Presentation</dc:subject>
  <dc:creator>Reweave</dc:creator>
  <cp:lastModifiedBy>Reweave</cp:lastModifiedBy>
  <cp:revision>1</cp:revision>
  <dcterms:created xsi:type="dcterms:W3CDTF">2026-08-30T00:24:44Z</dcterms:created>
  <dcterms:modified xsi:type="dcterms:W3CDTF">2026-08-30T00:24:44Z</dcterms:modified>
</cp:coreProperties>
</file>